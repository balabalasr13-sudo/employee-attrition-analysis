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0381" y="2313682"/>
            <a:ext cx="9891236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000000"/>
                </a:solidFill>
                <a:latin typeface="Poppins"/>
              </a:rPr>
              <a:t>Employee Attrition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5887" y="3513832"/>
            <a:ext cx="94202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0" sz="2100" i="0" u="none">
                <a:solidFill>
                  <a:srgbClr val="334155"/>
                </a:solidFill>
                <a:latin typeface="Lato"/>
              </a:rPr>
              <a:t>A Data-Driven Strategic Framework for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5887" y="4363342"/>
            <a:ext cx="9420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5088"/>
                </a:solidFill>
                <a:latin typeface="Lato"/>
              </a:rPr>
              <a:t>STRATEGIC INSIGHTS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729805"/>
            <a:ext cx="1143000" cy="571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60608" y="3072705"/>
            <a:ext cx="6270783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00000"/>
                </a:solidFill>
                <a:latin typeface="Poppins"/>
              </a:rPr>
              <a:t>Project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912" y="3977580"/>
            <a:ext cx="597217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Scope, Objectives, and Analytical 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387054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0000"/>
                </a:solidFill>
                <a:latin typeface="Poppins"/>
              </a:rPr>
              <a:t>Analysis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2387054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0000"/>
                </a:solidFill>
                <a:latin typeface="Poppins"/>
              </a:rPr>
              <a:t>Final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2996654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Identify the most dominant contributing factors governing turnover.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3821459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Analyze attrition across different demographic and operational segments.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4646265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Provide data-backed business recommendations to reduce attrition.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1375" y="2996654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Data Dictionary: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Structural baseline of all clinical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375" y="3821459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EDA Report: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Comprehensive exploratory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375" y="4646265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Dashboard: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Interactive Tableau visualization suite.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039516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864322"/>
            <a:ext cx="3048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689127"/>
            <a:ext cx="2000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3039516"/>
            <a:ext cx="20002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864322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4689127"/>
            <a:ext cx="266700" cy="276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Objectives and Core Deliverables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8919"/>
            <a:ext cx="3429000" cy="3240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308919"/>
            <a:ext cx="3429000" cy="3240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308919"/>
            <a:ext cx="3429000" cy="3240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5906" y="3337619"/>
            <a:ext cx="1500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37694"/>
            <a:ext cx="28384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Removed null values and duplicates. Eliminated zero-variance columns to ensure high-fidelity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5861" y="3337619"/>
            <a:ext cx="2220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937694"/>
            <a:ext cx="283845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Categorized 23 numerical and 8 categorical features. Audited data for logical contradictions.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0915" y="3337619"/>
            <a:ext cx="135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937694"/>
            <a:ext cx="28384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Synthesized a robust data dictionary mapping types, null counts, and unique value distributions.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25" y="2651819"/>
            <a:ext cx="5143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651819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5975" y="2651819"/>
            <a:ext cx="4000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Data Engineering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729805"/>
            <a:ext cx="1143000" cy="571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0465" y="3072705"/>
            <a:ext cx="8551068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00000"/>
                </a:solidFill>
                <a:latin typeface="Poppin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4062" y="3977580"/>
            <a:ext cx="814387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Quantifying the State of the Workforce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4559647"/>
            <a:ext cx="85725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1" u="none">
                <a:solidFill>
                  <a:srgbClr val="000000"/>
                </a:solidFill>
                <a:latin typeface="Lato"/>
              </a:rPr>
              <a:t>A significant 16.12% baseline attrition rate indicates a critical need for targeted retention strategies across high-risk employee segments.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437" y="2568922"/>
            <a:ext cx="26765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05088"/>
                </a:solidFill>
                <a:latin typeface="Lato"/>
              </a:rPr>
              <a:t>1,470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437" y="3711922"/>
            <a:ext cx="26765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0000"/>
                </a:solidFill>
                <a:latin typeface="Lato"/>
              </a:rPr>
              <a:t>TOTAL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3837" y="2568922"/>
            <a:ext cx="35147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05088"/>
                </a:solidFill>
                <a:latin typeface="Lato"/>
              </a:rPr>
              <a:t>16.12%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3837" y="3711922"/>
            <a:ext cx="3514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0000"/>
                </a:solidFill>
                <a:latin typeface="Lato"/>
              </a:rPr>
              <a:t>ATTRITION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2437" y="2568922"/>
            <a:ext cx="32861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05088"/>
                </a:solidFill>
                <a:latin typeface="Lato"/>
              </a:rPr>
              <a:t>$6,503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2437" y="3711922"/>
            <a:ext cx="32861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0000"/>
                </a:solidFill>
                <a:latin typeface="Lato"/>
              </a:rPr>
              <a:t>AVG.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Workforce KPI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1625"/>
            <a:ext cx="11049000" cy="4714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24125" y="5237857"/>
            <a:ext cx="714375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000000"/>
                </a:solidFill>
                <a:latin typeface="Lato"/>
              </a:rPr>
              <a:t>Sales Representatives show the highest attrition velocity, nearly 2.5x the organizational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Attrition Rate by Job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2406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24062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0000"/>
                </a:solidFill>
                <a:latin typeface="Poppins"/>
              </a:rPr>
              <a:t>Burnout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24137"/>
            <a:ext cx="528637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Overtime is the single most aggressiveOperational catalyst for turnover.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64248"/>
            <a:ext cx="528637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Excessive hours are creating a high-risk flight zone for nearly 1/3 of the overtime cohort.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33587"/>
            <a:ext cx="5267325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28750" y="3401317"/>
            <a:ext cx="442912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OT Attrition: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30.53%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3932783"/>
            <a:ext cx="442912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Non-OT Attrition: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10.44%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The Overtime Retention 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084415"/>
            <a:ext cx="11049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1" u="none">
                <a:solidFill>
                  <a:srgbClr val="000000"/>
                </a:solidFill>
                <a:latin typeface="Lato"/>
              </a:rPr>
              <a:t>There is a nearly 30% pay gap between those who stay and those who leave, identifying salary as a primary motivator for migration.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33650" y="2044154"/>
          <a:ext cx="7124700" cy="275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76500"/>
                <a:gridCol w="2400300"/>
                <a:gridCol w="2247900"/>
              </a:tblGrid>
              <a:tr h="688627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Employee Cohort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Avg. Monthly Income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Income Differential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88627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Retained Employees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$6,832.74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8627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Departed Employees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$4,787.09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- 29.9%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8629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00000"/>
                          </a:solidFill>
                          <a:latin typeface="Lato"/>
                        </a:rPr>
                        <a:t>Job Level 2 (OT Focus)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$4,534.00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00000"/>
                          </a:solidFill>
                          <a:latin typeface="Lato"/>
                        </a:rPr>
                        <a:t>Critical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33650" y="2704207"/>
            <a:ext cx="2476500" cy="285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10150" y="2704207"/>
            <a:ext cx="2400300" cy="285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10450" y="2704207"/>
            <a:ext cx="2247900" cy="2857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3650" y="3416647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10150" y="3416647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10450" y="341664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3650" y="4100512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0150" y="4100512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10450" y="4100512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3650" y="4784377"/>
            <a:ext cx="247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150" y="4784377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10450" y="478437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The Compensation Disparity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729805"/>
            <a:ext cx="1143000" cy="571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45493" y="3072705"/>
            <a:ext cx="810101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00000"/>
                </a:solidFill>
                <a:latin typeface="Poppins"/>
              </a:rPr>
              <a:t>Interactive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8375" y="3977580"/>
            <a:ext cx="771525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Optimizing the Strategic Dashboard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2022276"/>
            <a:ext cx="3810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12" y="2031801"/>
            <a:ext cx="3790950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2022276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0000"/>
                </a:solidFill>
                <a:latin typeface="Poppins"/>
              </a:rPr>
              <a:t>UI/UX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622351"/>
            <a:ext cx="528637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Resolved the "Income Disparity Problem" identified in initial critiques by optimizing container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1375" y="3361432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Fixed Truncation: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Increased vertical padding to reveal cut-off X-axis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1375" y="4186237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Improved Readability: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Ensured Job Levels 2, 3, and 4 are fully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375" y="5011042"/>
            <a:ext cx="442912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00000"/>
                </a:solidFill>
                <a:latin typeface="Lato"/>
              </a:rPr>
              <a:t>Cross-Filtering:</a:t>
            </a:r>
            <a:r>
              <a:rPr b="0" sz="1650" i="0" u="none">
                <a:solidFill>
                  <a:srgbClr val="000000"/>
                </a:solidFill>
                <a:latin typeface="Lato"/>
              </a:rPr>
              <a:t> Validated dynamic action filters for Job Role focus.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Visual Layout Optimization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13757"/>
            <a:ext cx="3429000" cy="36974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913757"/>
            <a:ext cx="3429000" cy="36974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913757"/>
            <a:ext cx="3429000" cy="3697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246757"/>
            <a:ext cx="116014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00000"/>
                </a:solidFill>
                <a:latin typeface="Poppins"/>
              </a:rPr>
              <a:t>Strategic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857" y="3942457"/>
            <a:ext cx="22802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Cap Overtime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542532"/>
            <a:ext cx="28384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Implement an automated audit for departments logging &gt;15% overtime to prevent the 30% attrition spike.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835" y="3942457"/>
            <a:ext cx="263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Restructure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542532"/>
            <a:ext cx="28384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Correct the Job Level 2 pay paradox where high labor output is not meeting market-rate compensation.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5813" y="3942457"/>
            <a:ext cx="29803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0000"/>
                </a:solidFill>
                <a:latin typeface="Poppins"/>
              </a:rPr>
              <a:t>Target Single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999732"/>
            <a:ext cx="28384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000000"/>
                </a:solidFill>
                <a:latin typeface="Lato"/>
              </a:rPr>
              <a:t>Develop fast-tracked development paths for single employees who show a 25.5% flight risk velocity.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256657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325665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3256657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96666"/>
            <a:ext cx="11049000" cy="9026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05026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39541"/>
            <a:ext cx="99536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static.vecteezy.com/system/resources/previews/062/740/377/large_2x/african-american-man-working-at-trading-desk-at-night-monitoring-forex-charts-on-multiple-monitors-black-male-employee-working-late-in-brick-wall-office-reviewing-stock-market-growth-in-real-time-photo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633638"/>
            <a:ext cx="99536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42184"/>
            <a:ext cx="2343150" cy="586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163169"/>
            <a:ext cx="99536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https://multipurposethemes.com/wp-content/uploads/2026/03/HRM-Dashboard.jpg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84030"/>
            <a:ext cx="99536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multipurposethemes.com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00000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